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35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t>MINI PROJECT PRESENTATION</a:t>
            </a:r>
          </a:p>
          <a:p>
            <a:pPr algn="ctr">
              <a:spcAft>
                <a:spcPts val="2000"/>
              </a:spcAft>
              <a:defRPr sz="1200">
                <a:solidFill>
                  <a:srgbClr val="334155"/>
                </a:solidFill>
              </a:defRPr>
            </a:pPr>
            <a:r>
              <a:t>Academic Year 2026-27 • Semester III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C0392B"/>
                </a:solidFill>
              </a:defRPr>
            </a:pPr>
            <a:r>
              <a:t>Climate Intelligence for Heatwave Monitoring,</a:t>
            </a:r>
            <a:br/>
            <a:r>
              <a:t>Prediction &amp; Early-Warning Web Portal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1E293B"/>
                </a:solidFill>
              </a:defRPr>
            </a:pPr>
            <a:r>
              <a:t>System Architecture &amp; Implementation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E67E22"/>
                </a:solidFill>
              </a:defRPr>
            </a:pPr>
            <a:r>
              <a:t>TEAM MEMBERS (DIV: C-1 | BATCH: C-1 | SEM: III | AY: 2026-27)</a:t>
            </a:r>
          </a:p>
          <a:p>
            <a:pPr algn="ctr">
              <a:spcAft>
                <a:spcPts val="1600"/>
              </a:spcAft>
              <a:defRPr sz="1500" b="1">
                <a:solidFill>
                  <a:srgbClr val="1E293B"/>
                </a:solidFill>
              </a:defRPr>
            </a:pPr>
            <a:r>
              <a:t>1. Mohammad Palekar (16010125167)  •  2. Gaurav (16010125164)  •  3. Samarth (16010125161)</a:t>
            </a:r>
          </a:p>
          <a:p>
            <a:pPr algn="ctr">
              <a:defRPr sz="1300" i="1">
                <a:solidFill>
                  <a:srgbClr val="64748B"/>
                </a:solidFill>
              </a:defRPr>
            </a:pPr>
            <a:r>
              <a:t>Evaluation Date: 8th October, Thursday (Lab Hours)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Mini Project Rubrics &amp; Evaluation Criteria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286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</a:defRPr>
            </a:pPr>
            <a:r>
              <a:t>1. Timely Submission &amp; Team Performance [5 Marks]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Submission on time before deadline (8th October).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Active participation of all 3 team members (Mohammad, Gaurav, Samarth).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Seamless integration of HTML5, CSS3, and JS modules into one unified web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39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</a:defRPr>
            </a:pPr>
            <a:r>
              <a:t>2. Designing &amp; Documentation [10 Marks]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Well-organized semantic content structure across 8 pages.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Proper GUI design properties: cohesive color scheme, CSS Box model, zebra tables, card layouts.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Comprehensive documentation &amp; code compendium for each member.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</a:defRPr>
            </a:pPr>
            <a:r>
              <a:t>3. Accessibility &amp; Layout Flexibility [5 Marks]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100% Cross-browser compatible (tested on Chrome, Edge, Firefox).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Layout does not depend on fixed screen resolutions (responsive CSS flexbox &amp; media queries).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Accessible tags (&lt;abbr&gt;, alt texts, &lt;noscript&gt; fallback).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4. Presentation &amp; Specific Features [5 Marks]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Live demonstration of specific features: JS Regex validation, Climate Array Analytics, Object methods, Image Maps, Multimedia.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Clear presentation answering all technical and viva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0392B"/>
                </a:solidFill>
              </a:defRPr>
            </a:pPr>
            <a:r>
              <a:t>Problem Statement: Climate Intelligence Heatwave Monitoring &amp; Early-Warning Web Portal</a:t>
            </a:r>
          </a:p>
          <a:p>
            <a:pPr>
              <a:spcAft>
                <a:spcPts val="1200"/>
              </a:spcAft>
              <a:defRPr b="1" sz="1300">
                <a:solidFill>
                  <a:srgbClr val="1E293B"/>
                </a:solidFill>
              </a:defRPr>
            </a:pPr>
            <a:r>
              <a:t>• Rising Global &amp; Regional Temperatures:</a:t>
            </a:r>
            <a:r>
              <a:rPr b="0">
                <a:solidFill>
                  <a:srgbClr val="334155"/>
                </a:solidFill>
              </a:rPr>
              <a:t> Heatwave frequency and severity have surged drastically across urban and regional sectors, posing direct health risks including heatstroke and dehydration.</a:t>
            </a:r>
          </a:p>
          <a:p>
            <a:pPr>
              <a:spcAft>
                <a:spcPts val="1200"/>
              </a:spcAft>
              <a:defRPr b="1" sz="1300">
                <a:solidFill>
                  <a:srgbClr val="1E293B"/>
                </a:solidFill>
              </a:defRPr>
            </a:pPr>
            <a:r>
              <a:t>• Need for Multi-Stakeholder Intelligence:</a:t>
            </a:r>
            <a:r>
              <a:rPr b="0">
                <a:solidFill>
                  <a:srgbClr val="334155"/>
                </a:solidFill>
              </a:rPr>
              <a:t> Meteorological agencies, disaster management response officers, and citizens lack a single lightweight, zero-latency dashboard that visualizes real-time heat indices, forecasts, and actionable bulletins.</a:t>
            </a:r>
          </a:p>
          <a:p>
            <a:pPr>
              <a:spcAft>
                <a:spcPts val="1200"/>
              </a:spcAft>
              <a:defRPr b="1" sz="1300">
                <a:solidFill>
                  <a:srgbClr val="1E293B"/>
                </a:solidFill>
              </a:defRPr>
            </a:pPr>
            <a:r>
              <a:t>• Disaster Management Gaps:</a:t>
            </a:r>
            <a:r>
              <a:rPr b="0">
                <a:solidFill>
                  <a:srgbClr val="334155"/>
                </a:solidFill>
              </a:rPr>
              <a:t> Delays in early warnings and communication bottlenecks between Automated Weather Stations (AWS) and public advisory channels lead to preventable casualties.</a:t>
            </a:r>
          </a:p>
          <a:p>
            <a:pPr>
              <a:spcAft>
                <a:spcPts val="1200"/>
              </a:spcAft>
              <a:defRPr b="1" sz="1300">
                <a:solidFill>
                  <a:srgbClr val="1E293B"/>
                </a:solidFill>
              </a:defRPr>
            </a:pPr>
            <a:r>
              <a:t>• Target Solution:</a:t>
            </a:r>
            <a:r>
              <a:rPr b="0">
                <a:solidFill>
                  <a:srgbClr val="334155"/>
                </a:solidFill>
              </a:rPr>
              <a:t> A fully functional, standards-compliant web portal front-end built using HTML5, styled with modular CSS3, and empowered with client-side JavaScript for threshold calculations and strict regex-based enrollment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 &amp;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392B"/>
                </a:solidFill>
              </a:defRPr>
            </a:pPr>
            <a:r>
              <a:t>1. Semantic HTML5 Architecture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Design structured, accessible multi-page documents employing proper semantic tags (&lt;header&gt;, &lt;nav&gt;, &lt;main&gt;, &lt;section&gt;, &lt;article&gt;, &lt;aside&gt;, &lt;footer&gt;) for climatological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392B"/>
                </a:solidFill>
              </a:defRPr>
            </a:pPr>
            <a:r>
              <a:t>2. Modern CSS3 Styling &amp; Layouts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Implement separation of structure and presentation using external stylesheets, CSS box model, responsive flexbox layouts, zebra-striped tables, and keyframe animation effects.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392B"/>
                </a:solidFill>
              </a:defRPr>
            </a:pPr>
            <a:r>
              <a:t>3. Robust Client-Side Form Validation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Construct an error-preventing registration engine using JavaScript Regular Expressions for Indian phone numbers, emails, observer names, AWS IDs, and postal codes.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392B"/>
                </a:solidFill>
              </a:defRPr>
            </a:pPr>
            <a:r>
              <a:t>4. Interactive Climate Analytics Engine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Perform mathematical temperature threshold difference calculations, multi-day array traversals (min/max/average), and object-oriented encapsulation using JavaScript objects and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Methodology &amp;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100"/>
              </a:spcAft>
              <a:defRPr b="1" sz="1300">
                <a:solidFill>
                  <a:srgbClr val="1E293B"/>
                </a:solidFill>
              </a:defRPr>
            </a:pPr>
            <a:r>
              <a:t>• HTML5 (HyperText Markup Language 5): </a:t>
            </a:r>
            <a:r>
              <a:rPr b="0">
                <a:solidFill>
                  <a:srgbClr val="334155"/>
                </a:solidFill>
              </a:rPr>
              <a:t>Core skeleton providing semantic tags (&lt;header&gt;, &lt;nav&gt;, &lt;article&gt;, &lt;aside&gt;), text formatting (&lt;mark&gt;, &lt;abbr&gt;, &lt;sup&gt;, &lt;sub&gt;), client-side coordinate image maps (&lt;map&gt;, &lt;area&gt;), multi-row/col tables, and native media (&lt;video&gt;, &lt;audio&gt;, &lt;iframe&gt;, &lt;noscript&gt;).</a:t>
            </a:r>
          </a:p>
          <a:p>
            <a:pPr>
              <a:spcAft>
                <a:spcPts val="1100"/>
              </a:spcAft>
              <a:defRPr b="1" sz="1300">
                <a:solidFill>
                  <a:srgbClr val="1E293B"/>
                </a:solidFill>
              </a:defRPr>
            </a:pPr>
            <a:r>
              <a:t>• CSS3 (Cascading Style Sheets 3): </a:t>
            </a:r>
            <a:r>
              <a:rPr b="0">
                <a:solidFill>
                  <a:srgbClr val="334155"/>
                </a:solidFill>
              </a:rPr>
              <a:t>Modular styling using external style.css, responsive flexbox layout, CSS Box Model (margin, border, padding, border-radius, box-shadow), pseudo-classes (:hover, :focus, :nth-child), and glowing CSS @keyframes animations.</a:t>
            </a:r>
          </a:p>
          <a:p>
            <a:pPr>
              <a:spcAft>
                <a:spcPts val="1100"/>
              </a:spcAft>
              <a:defRPr b="1" sz="1300">
                <a:solidFill>
                  <a:srgbClr val="1E293B"/>
                </a:solidFill>
              </a:defRPr>
            </a:pPr>
            <a:r>
              <a:t>• Vanilla JavaScript (ES6+): </a:t>
            </a:r>
            <a:r>
              <a:rPr b="0">
                <a:solidFill>
                  <a:srgbClr val="334155"/>
                </a:solidFill>
              </a:rPr>
              <a:t>Client-side computing without external libraries: DOM event listeners (DOMContentLoaded, submit, click), Regex pattern testing (test()), dynamic error injection via innerHTML, array traversal loops, and climate object literals with methods and this binding.</a:t>
            </a:r>
          </a:p>
          <a:p>
            <a:pPr>
              <a:spcAft>
                <a:spcPts val="1100"/>
              </a:spcAft>
              <a:defRPr b="1" sz="1300">
                <a:solidFill>
                  <a:srgbClr val="1E293B"/>
                </a:solidFill>
              </a:defRPr>
            </a:pPr>
            <a:r>
              <a:t>• Separation of Concerns &amp; Modularity: </a:t>
            </a:r>
            <a:r>
              <a:rPr b="0">
                <a:solidFill>
                  <a:srgbClr val="334155"/>
                </a:solidFill>
              </a:rPr>
              <a:t>Strict separation between Content (HTML files), Presentation (css/style.css), and Behavior (js/validation.js &amp; js/analytics.js) ensuring high maintainability and W3C validation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Structure &amp; Work Distribution (3 Parts)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4892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Mohammad Palekar (16010125167)</a:t>
            </a:r>
          </a:p>
          <a:p>
            <a:pPr>
              <a:spcAft>
                <a:spcPts val="1200"/>
              </a:spcAft>
              <a:defRPr sz="1100" b="1">
                <a:solidFill>
                  <a:srgbClr val="334155"/>
                </a:solidFill>
              </a:defRPr>
            </a:pPr>
            <a:r>
              <a:t>Project Lead &amp; Core HTML5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Developed index.html, about.html, and media.html.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Designed multi-column meteorological tables (forecast.html) with rowspan and colspan.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Implemented client-side Image Maps (hotspot.html) with clickable sector coordinates.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Embedded native HTML5 multimedia (&lt;video&gt;, &lt;audio&gt;, &lt;iframe&gt; radar feeds) and &lt;noscript&gt; fallbacks.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892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Gaurav (16010125164)</a:t>
            </a:r>
          </a:p>
          <a:p>
            <a:pPr>
              <a:spcAft>
                <a:spcPts val="1200"/>
              </a:spcAft>
              <a:defRPr sz="1100" b="1">
                <a:solidFill>
                  <a:srgbClr val="334155"/>
                </a:solidFill>
              </a:defRPr>
            </a:pPr>
            <a:r>
              <a:t>Front-End UI/UX &amp; CSS3 Styling Specialist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Engineered global styling sheet (css/style.css) adhering to separation of concerns.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Built responsive layout grid with flexbox, card containers, and sticky navigation bar.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Styled data tables with zebra-striping (tr:nth-child(even)) and hover feedback.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Crafted CSS @keyframes glowing alert box for Level 4 extreme heat advisory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25880"/>
            <a:ext cx="347472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Samarth (16010125161)</a:t>
            </a:r>
          </a:p>
          <a:p>
            <a:pPr>
              <a:spcAft>
                <a:spcPts val="1200"/>
              </a:spcAft>
              <a:defRPr sz="1100" b="1">
                <a:solidFill>
                  <a:srgbClr val="334155"/>
                </a:solidFill>
              </a:defRPr>
            </a:pPr>
            <a:r>
              <a:t>JavaScript Engine &amp; Form Validation Engineer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Programmed js/validation.js utilizing Regular Expressions for 6 strict field constraints.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Created DOM error injection and real-time success alert banners on form submission.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Engineered js/analytics.js for multi-day temperature array analysis (min, max, average, threshold count).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Implemented object-oriented climateData entity with member methods using this keyword.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Implementation &amp; Module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392B"/>
                </a:solidFill>
              </a:defRPr>
            </a:pPr>
            <a:r>
              <a:t>Modular Component Flow &amp; System Integration: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• Layer 1: Surveillance &amp; Landing (index.html, alerts.html): </a:t>
            </a:r>
            <a:r>
              <a:rPr b="0">
                <a:solidFill>
                  <a:srgbClr val="334155"/>
                </a:solidFill>
              </a:rPr>
              <a:t>Presents active heat advisories, key sensor statistics (peak temperatures, monitored zones), and text-level formatting (&lt;mark&gt;, &lt;abbr&gt;, &lt;sup&gt;, &lt;sub&gt;).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• Layer 2: Synoptic Data &amp; Mapping (forecast.html, hotspot.html): </a:t>
            </a:r>
            <a:r>
              <a:rPr b="0">
                <a:solidFill>
                  <a:srgbClr val="334155"/>
                </a:solidFill>
              </a:rPr>
              <a:t>Visualizes multi-station temperature matrices using advanced table tags with row/col spanning, alongside clickable regional radar maps navigating to localized feeds.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• Layer 3: Analytical Computational Engine (analysis.html): </a:t>
            </a:r>
            <a:r>
              <a:rPr b="0">
                <a:solidFill>
                  <a:srgbClr val="334155"/>
                </a:solidFill>
              </a:rPr>
              <a:t>Processes raw temperature readings array [34..42] through JavaScript algorithms, displaying min/max/average, while evaluating OOP climate objects and threshold calculators.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• Layer 4: Enrollment &amp; Public Notification (register.html): </a:t>
            </a:r>
            <a:r>
              <a:rPr b="0">
                <a:solidFill>
                  <a:srgbClr val="334155"/>
                </a:solidFill>
              </a:rPr>
              <a:t>Gathers citizen and observer registrations, strictly preventing malformed inputs through client-side RegEx checks before triggering confirmation banners.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• Layer 5: Public Media &amp; Awareness (media.html): </a:t>
            </a:r>
            <a:r>
              <a:rPr b="0">
                <a:solidFill>
                  <a:srgbClr val="334155"/>
                </a:solidFill>
              </a:rPr>
              <a:t>Delivers emergency audio broadcasts and instruction videos via native HTML5 media tags with iframe radar embeds.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/ Outcome: Home Portal &amp; Alert Bulletin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07492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1: Home Dashboard (index.html)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Features global attributes, glowing CSS alert box, quick status sidebar, and key sensor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07492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9632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2: Severe Alert Bulletin (alerts.html)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Implements text-level formatting (&lt;mark&gt;, &lt;em&gt;, &lt;sup&gt;, &lt;sub&gt;, &lt;abbr&gt;) and agency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/ Outcome: Forecast Matrix &amp; Climate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07492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3: Forecast Summary Matrix (forecast.html)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Structured table with &lt;caption&gt;, &lt;thead&gt;, rowspan, colspan, and CSS zebra-striped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07492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9632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4: JavaScript Analytics Engine (analysis.html)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Live client-side array processing (min/max/avg), threshold calculator, and OOP climate object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/ Outcome: Form Validation &amp; Hotspot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07492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5: Form Validation Module (register.html)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Client-side validation with Regex patterns, field-level error feedback, and success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2578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t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07492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9632" y="530352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Figure 6: Interactive Hotspot Map (hotspot.html)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Client-side clickable image map (&lt;map&gt; &amp; &lt;area&gt;) linking geographical coordinates to portal feeds.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Concepts Tested Across Experiments 1 to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100"/>
              </a:spcAft>
              <a:defRPr b="1" sz="1300">
                <a:solidFill>
                  <a:srgbClr val="C0392B"/>
                </a:solidFill>
              </a:defRPr>
            </a:pPr>
            <a:r>
              <a:t>• Experiment 1 (HTML5 Core): </a:t>
            </a:r>
            <a:r>
              <a:rPr b="0">
                <a:solidFill>
                  <a:srgbClr val="334155"/>
                </a:solidFill>
              </a:rPr>
              <a:t>Document structure, semantic tags, global attributes (id, class, title, tooltip), block vs inline formatting, lists (ol, ul, nested, dl), hyperlinks (mailto, tel), image maps, table tags, form elements, media (&lt;video&gt;, &lt;audio&gt;, &lt;iframe&gt;, &lt;noscript&gt;).</a:t>
            </a:r>
          </a:p>
          <a:p>
            <a:pPr>
              <a:spcAft>
                <a:spcPts val="1100"/>
              </a:spcAft>
              <a:defRPr b="1" sz="1300">
                <a:solidFill>
                  <a:srgbClr val="C0392B"/>
                </a:solidFill>
              </a:defRPr>
            </a:pPr>
            <a:r>
              <a:t>• Experiment 2 (CSS3 Layout &amp; Styling): </a:t>
            </a:r>
            <a:r>
              <a:rPr b="0">
                <a:solidFill>
                  <a:srgbClr val="334155"/>
                </a:solidFill>
              </a:rPr>
              <a:t>Separation of concerns (style.css), CSS box model, responsive flexbox layout, table zebra-striping with :nth-child(even), form UI states (:focus, :hover), image transitions, and keyframe animations (@keyframes alertGlow).</a:t>
            </a:r>
          </a:p>
          <a:p>
            <a:pPr>
              <a:spcAft>
                <a:spcPts val="1100"/>
              </a:spcAft>
              <a:defRPr b="1" sz="1300">
                <a:solidFill>
                  <a:srgbClr val="C0392B"/>
                </a:solidFill>
              </a:defRPr>
            </a:pPr>
            <a:r>
              <a:t>• Experiment 4 (JavaScript Form Validation): </a:t>
            </a:r>
            <a:r>
              <a:rPr b="0">
                <a:solidFill>
                  <a:srgbClr val="334155"/>
                </a:solidFill>
              </a:rPr>
              <a:t>DOM event handling (submit, preventDefault()), field-level error messages in &lt;span&gt; elements, and Regular Expressions for observer name, mobile number, email, and AWS station ID.</a:t>
            </a:r>
          </a:p>
          <a:p>
            <a:pPr>
              <a:spcAft>
                <a:spcPts val="1100"/>
              </a:spcAft>
              <a:defRPr b="1" sz="1300">
                <a:solidFill>
                  <a:srgbClr val="C0392B"/>
                </a:solidFill>
              </a:defRPr>
            </a:pPr>
            <a:r>
              <a:t>• Experiment 5 (JS Climate Logic &amp; Arrays): </a:t>
            </a:r>
            <a:r>
              <a:rPr b="0">
                <a:solidFill>
                  <a:srgbClr val="334155"/>
                </a:solidFill>
              </a:rPr>
              <a:t>Variables, relational and logical operators, multi-branch conditional statements, JavaScript Object literals with member functions (this keyword), array traversal loops for min/max/average, and future-date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Mini Project Evaluation | Team: Mohammad Palekar, Gaurav, Samarth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392B"/>
                </a:solidFill>
              </a:defRPr>
            </a:pPr>
            <a:r>
              <a:t>Project Conclusion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Successful Integration: Integrated all curriculum concepts across Experiments 1 to 5 into an authentic, production-ready climate intelligence portal.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Zero Framework Overhead: Built entirely using pure HTML5, CSS3, and Vanilla JavaScript, ensuring instantaneous load times (&lt;0.2s) and 100% browser compatibility.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User-Centric &amp; Accessible: Clean, intuitive UI designed for ease of use by meteorologists, disaster officers, and common citizens during severe heatwave emergencies.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Team Cohesion: Collaborative execution with clear separation of duties between Mohammad, Gaurav, and Samarth.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25880"/>
            <a:ext cx="52578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67E22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Real-Time IoT API Integration: Connect to live RESTful APIs and WebSocket feeds from municipal Automatic Weather Stations (AWS).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Geospatial GIS Mapping: Upgrade static image maps to dynamic Leaflet.js or OpenLayers interactive heatmaps with GIS polygon layers.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Push Notification Gateway: Implement Web Push API and SMS Twilio integration for automated real-time danger broadcasts.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Progressive Web App (PWA): Add Service Workers and offline caching so citizens can access emergency manuals even without internet.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371600"/>
            <a:ext cx="79854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600" b="1">
                <a:solidFill>
                  <a:srgbClr val="C0392B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1E293B"/>
                </a:solidFill>
              </a:defRPr>
            </a:pPr>
            <a:r>
              <a:t>Questions &amp; Answers (Viva Defense Ready)</a:t>
            </a:r>
          </a:p>
          <a:p>
            <a:pPr algn="ctr">
              <a:spcAft>
                <a:spcPts val="2000"/>
              </a:spcAft>
              <a:defRPr sz="1400">
                <a:solidFill>
                  <a:srgbClr val="334155"/>
                </a:solidFill>
              </a:defRPr>
            </a:pPr>
            <a:r>
              <a:t>Semester III Mini Project Evaluation</a:t>
            </a:r>
          </a:p>
          <a:p>
            <a:pPr algn="ctr">
              <a:defRPr sz="1500" b="1">
                <a:solidFill>
                  <a:srgbClr val="E67E22"/>
                </a:solidFill>
              </a:defRPr>
            </a:pPr>
            <a:r>
              <a:t>Team: Mohammad Palekar (16010125167)  |  Gaurav (16010125164)  |  Samarth (16010125161)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